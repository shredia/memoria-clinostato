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3" r:id="rId4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A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7CE28-F079-4780-B794-83096425F610}" v="477" dt="2025-09-09T04:37:38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5" autoAdjust="0"/>
    <p:restoredTop sz="87437" autoAdjust="0"/>
  </p:normalViewPr>
  <p:slideViewPr>
    <p:cSldViewPr>
      <p:cViewPr varScale="1">
        <p:scale>
          <a:sx n="139" d="100"/>
          <a:sy n="139" d="100"/>
        </p:scale>
        <p:origin x="232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13643-6098-42B8-88C3-F832B9F5821B}" type="datetimeFigureOut">
              <a:rPr lang="es-CL" smtClean="0"/>
              <a:t>23-09-2025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FCB7C-CB8A-4BBE-9542-264ECF21DC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224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FFB37-7D7F-3264-F36F-5BA448CB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F521DD-466B-987C-E68C-F54D1413D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F2D225-29B5-4792-547C-4456359AE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Desde los años 60, con la carrera espacial, es que se piensa enviar a los humanos al espacio. Pero mantener a un equipo de personas comiendo 3 </a:t>
            </a:r>
            <a:r>
              <a:rPr lang="es-CL" dirty="0" err="1"/>
              <a:t>cómidas</a:t>
            </a:r>
            <a:r>
              <a:rPr lang="es-CL" dirty="0"/>
              <a:t> al día durante 6 meses a 2 años no era una opción tan viable, en especial considerando que podían existir errores que podían costar caro.</a:t>
            </a:r>
            <a:br>
              <a:rPr lang="es-CL" dirty="0"/>
            </a:br>
            <a:r>
              <a:rPr lang="es-CL" dirty="0"/>
              <a:t>El cultivo espacial era una opción tentadora, pero no se podía esperar que los cultivos crecieran de la misma manera a baja gravedad cómo a gravedad normal cómo es en la tierra.</a:t>
            </a:r>
          </a:p>
          <a:p>
            <a:endParaRPr lang="es-CL" dirty="0"/>
          </a:p>
          <a:p>
            <a:r>
              <a:rPr lang="es-CL" dirty="0"/>
              <a:t>Un clinostato es un dispositivo o estructura capaz de simular, aquí en el suelo terrestre, ingravidez o </a:t>
            </a:r>
            <a:r>
              <a:rPr lang="es-CL" dirty="0" err="1"/>
              <a:t>micro-gravedad</a:t>
            </a:r>
            <a:r>
              <a:rPr lang="es-CL" dirty="0"/>
              <a:t>, mediante una fuerza centrípeta.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8B5D7C-00B4-F13B-2EC9-4374E5845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8083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¿Qué tipo de clasificaciones o diferencias pueden tener estos </a:t>
            </a:r>
            <a:r>
              <a:rPr lang="es-CL" dirty="0" err="1"/>
              <a:t>clinostatos</a:t>
            </a:r>
            <a:r>
              <a:rPr lang="es-CL" dirty="0"/>
              <a:t>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1314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850A-4078-0F78-483A-D4875B04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0214C0-4D0F-E0F6-4A26-766CCA68D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D03705-3F43-0694-210F-F9ABB59D8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Problemáticas encontradas: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B2591E-83C8-8C3B-213E-0D6793834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284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F72EC-1933-E555-8050-68F7C676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8D273F-BBFD-A787-6511-BE4590CCC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2F208DF-4EC6-650B-9F37-8465D193F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Problemáticas encontradas: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49B701-3CA5-8C83-B927-FB9409CA7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7494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8A6E5-2EA7-55D7-E6B9-0025DCAA6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1B1BC7-1AB2-1BCF-9F11-522B2F3D0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A36165-3116-CE54-BF0C-9C1C97177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Problemáticas encontradas: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773CD9-25B6-A410-6A81-8AEA0D80D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0145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295D-9D5E-EDFF-116F-DF92105F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D48E61C-080C-05A3-2130-F0ABA0A5D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C86D9E-E554-411A-18AB-92FFEFCAC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Problemáticas encontradas: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D50E88-4FAD-B4F2-28F4-8E89C6BC7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4873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082D1-AFA2-6507-42E2-744960C0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DCF187-6231-335A-6CC3-20D99197D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05A8B8-CCCC-DCC4-DF64-50FC1CBED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Problemáticas encontradas: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ED5CDA-7E47-7C19-E641-1B40C4951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1865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14324-EB54-EABC-A9FE-7E67BB0A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9B7A059-375A-9702-0D1A-EEEAE5612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A00F33-A8ED-CEBC-BFB8-01E45137F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Problemáticas encontradas: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1151C2-E646-4124-40D3-50561109F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3696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9776-DC95-8CA6-E2E6-E336DD8F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030E7C-DC15-5658-5164-17E2DDD12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6A6BD8-6736-DFC9-DEFD-38CCDD6B4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Problemáticas encontradas: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8924E1-1752-9222-45B2-0D3C57D22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5323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A363-16A9-B793-FEB2-7C83811D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39E02C-093B-1FD0-FE44-BE663921E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95B5C7-87D4-50F7-7D5B-51F562A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Problemáticas encontradas: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071C36-1E27-EBF3-A1E0-12D47C1B6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B7C-CB8A-4BBE-9542-264ECF21DC40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8384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AE8F-415C-4F28-8248-B90E6A764DDE}" type="datetime1">
              <a:rPr lang="es-CL" smtClean="0"/>
              <a:t>23-09-2025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88E8-5004-41A1-86C5-0EB43486AD63}" type="datetime1">
              <a:rPr lang="es-CL" smtClean="0"/>
              <a:t>23-09-2025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0FB-0E5C-4FB0-8478-2254861878C9}" type="datetime1">
              <a:rPr lang="es-CL" smtClean="0"/>
              <a:t>23-09-2025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A04C-43FF-4C54-B8F5-1ECAA2D7C082}" type="datetime1">
              <a:rPr lang="es-CL" smtClean="0"/>
              <a:t>23-09-2025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2EEB-9292-4BFA-92C4-F1703134EB92}" type="datetime1">
              <a:rPr lang="es-CL" smtClean="0"/>
              <a:t>23-09-2025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B6A4-38F3-4CDE-BB02-75A96AA1104B}" type="datetime1">
              <a:rPr lang="es-CL" smtClean="0"/>
              <a:t>23-09-2025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0F55-AC32-4043-B1E1-C4EABEAF6B3E}" type="datetime1">
              <a:rPr lang="es-CL" smtClean="0"/>
              <a:t>23-09-2025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A597-DCCF-43F1-B9E8-31ADE71E2F5A}" type="datetime1">
              <a:rPr lang="es-CL" smtClean="0"/>
              <a:t>23-09-2025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2E075-C034-484A-A181-1F2E807DE226}" type="datetime1">
              <a:rPr lang="es-CL" smtClean="0"/>
              <a:t>23-09-2025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2FCDB-BEAF-4AF8-AB1C-48E72A5F6673}" type="datetime1">
              <a:rPr lang="es-CL" smtClean="0"/>
              <a:t>23-09-2025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FB2-761D-42E1-8B83-BF25701EF98E}" type="datetime1">
              <a:rPr lang="es-CL" smtClean="0"/>
              <a:t>23-09-2025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6248-82A9-4F3D-AC2F-50BCE2FB89E7}" type="datetime1">
              <a:rPr lang="es-CL" smtClean="0"/>
              <a:t>23-09-2025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01B3D-7149-4524-8E39-54EBB781E7E7}" type="slidenum">
              <a:rPr lang="es-CL" smtClean="0"/>
              <a:pPr/>
              <a:t>‹Nº›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1F87B-A313-43D4-B719-66481ACE7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30" y="4111307"/>
            <a:ext cx="5342631" cy="1035695"/>
          </a:xfrm>
        </p:spPr>
        <p:txBody>
          <a:bodyPr anchor="ctr">
            <a:noAutofit/>
          </a:bodyPr>
          <a:lstStyle/>
          <a:p>
            <a: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Damián Andrés Bravo Campusano</a:t>
            </a:r>
            <a:b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Profesor guía : Fernando Fuentes</a:t>
            </a:r>
            <a:b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Profesor co-guía: Ignacio Torres</a:t>
            </a:r>
            <a:b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 de Talca</a:t>
            </a:r>
          </a:p>
        </p:txBody>
      </p:sp>
      <p:pic>
        <p:nvPicPr>
          <p:cNvPr id="19" name="Imagen 1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535FD71-C46E-4D6F-8CBB-474F2D15AA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7" t="10227" r="17579" b="9695"/>
          <a:stretch/>
        </p:blipFill>
        <p:spPr>
          <a:xfrm>
            <a:off x="681315" y="572017"/>
            <a:ext cx="885074" cy="108000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C8AE0D8E-EB19-4163-A378-2C7D81C13736}"/>
              </a:ext>
            </a:extLst>
          </p:cNvPr>
          <p:cNvSpPr txBox="1"/>
          <p:nvPr/>
        </p:nvSpPr>
        <p:spPr>
          <a:xfrm>
            <a:off x="1814330" y="2536797"/>
            <a:ext cx="534263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L" sz="2400" dirty="0"/>
              <a:t>Aplicación de un control robusto para motores </a:t>
            </a:r>
            <a:r>
              <a:rPr lang="es-CL" sz="2400" dirty="0" err="1"/>
              <a:t>stepper</a:t>
            </a:r>
            <a:r>
              <a:rPr lang="es-CL" sz="2400" dirty="0"/>
              <a:t> de un Clinostato 2D.</a:t>
            </a:r>
            <a:endParaRPr lang="es-C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DD77BBF3-3085-4B53-BA29-E9EF5F4F01F9}"/>
              </a:ext>
            </a:extLst>
          </p:cNvPr>
          <p:cNvSpPr txBox="1">
            <a:spLocks/>
          </p:cNvSpPr>
          <p:nvPr/>
        </p:nvSpPr>
        <p:spPr>
          <a:xfrm>
            <a:off x="3962794" y="6093296"/>
            <a:ext cx="1401294" cy="44502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Segundo Semestre, 2025</a:t>
            </a:r>
          </a:p>
        </p:txBody>
      </p:sp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88E48E1-37FF-171E-892C-BA5DD555BB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332656"/>
            <a:ext cx="1542910" cy="895672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4B7C74-56C6-2AEC-E6E1-5751A07E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121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59D0F-AF7D-85B4-AAB0-C35088E6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0744FF-658A-5850-98E7-25A3CBFB7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  <a:p>
            <a:r>
              <a:rPr lang="es-CL" dirty="0"/>
              <a:t>Estado del arte</a:t>
            </a:r>
          </a:p>
          <a:p>
            <a:r>
              <a:rPr lang="es-CL" dirty="0"/>
              <a:t>Objetivo general y específicos</a:t>
            </a:r>
          </a:p>
          <a:p>
            <a:r>
              <a:rPr lang="es-CL" dirty="0"/>
              <a:t>Alcances y limitaciones</a:t>
            </a:r>
          </a:p>
          <a:p>
            <a:r>
              <a:rPr lang="es-CL" dirty="0"/>
              <a:t>Desarrollo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37BDFC-4889-AE07-7FFB-FEF9031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670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7EF12-0D5A-2BFF-4CAE-682F59EF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F8E99B-4395-F17C-481A-AAF2881C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CL" sz="3500" dirty="0">
                <a:solidFill>
                  <a:srgbClr val="FFFFFF"/>
                </a:solidFill>
              </a:rPr>
              <a:t>Introducción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C13218-C8D3-57AE-2526-E8938FD59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761866"/>
            <a:ext cx="6729017" cy="659022"/>
          </a:xfrm>
        </p:spPr>
        <p:txBody>
          <a:bodyPr anchor="ctr">
            <a:normAutofit/>
          </a:bodyPr>
          <a:lstStyle/>
          <a:p>
            <a:r>
              <a:rPr lang="es-CL" dirty="0"/>
              <a:t>¿Qué es un Clinostato?</a:t>
            </a:r>
          </a:p>
          <a:p>
            <a:endParaRPr lang="es-CL" sz="1700" dirty="0"/>
          </a:p>
        </p:txBody>
      </p:sp>
      <p:pic>
        <p:nvPicPr>
          <p:cNvPr id="18" name="Picture 2" descr="Clinostat real!">
            <a:extLst>
              <a:ext uri="{FF2B5EF4-FFF2-40B4-BE49-F238E27FC236}">
                <a16:creationId xmlns:a16="http://schemas.microsoft.com/office/drawing/2014/main" id="{441CFAC6-AA36-8475-893C-CD3B8ABD39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8" r="17447"/>
          <a:stretch>
            <a:fillRect/>
          </a:stretch>
        </p:blipFill>
        <p:spPr bwMode="auto">
          <a:xfrm>
            <a:off x="5177447" y="1785889"/>
            <a:ext cx="3462164" cy="292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84E601-D057-D6C3-729E-764727C9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7771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83EA95-20D6-9A93-A5E2-415CD68F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CL" sz="3500" dirty="0">
                <a:solidFill>
                  <a:srgbClr val="FFFFFF"/>
                </a:solidFill>
              </a:rPr>
              <a:t>Estado del arte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2FB92F-8D9A-E2C0-74E4-8A8940800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CL" dirty="0"/>
              <a:t>Clasificación:</a:t>
            </a:r>
          </a:p>
          <a:p>
            <a:pPr lvl="1"/>
            <a:r>
              <a:rPr lang="es-CL" sz="3200" dirty="0"/>
              <a:t>Grados de libertad.</a:t>
            </a:r>
          </a:p>
          <a:p>
            <a:pPr lvl="1"/>
            <a:r>
              <a:rPr lang="es-CL" sz="3200" dirty="0"/>
              <a:t>Tipo de motores.</a:t>
            </a:r>
          </a:p>
          <a:p>
            <a:pPr lvl="1"/>
            <a:r>
              <a:rPr lang="es-CL" sz="3200" dirty="0"/>
              <a:t>Posición de motores.</a:t>
            </a:r>
          </a:p>
          <a:p>
            <a:pPr marL="0" indent="0">
              <a:buNone/>
            </a:pPr>
            <a:endParaRPr lang="es-CL" sz="17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FBCE08-F10E-BAD4-5FFA-506CC737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6769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78E83-C9FE-A698-6EFD-454AFCF6F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D0EA5D-16E1-B8AC-DB90-63BC0FDA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CL" sz="3500">
                <a:solidFill>
                  <a:srgbClr val="FFFFFF"/>
                </a:solidFill>
              </a:rPr>
              <a:t>Estado del arte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9F628-6884-C652-0409-5E3CDB7B5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204864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CL" dirty="0"/>
              <a:t>Problemáticas:</a:t>
            </a:r>
          </a:p>
          <a:p>
            <a:pPr lvl="1"/>
            <a:r>
              <a:rPr lang="es-CL" sz="3200" dirty="0"/>
              <a:t>Inconsistencia Velocidades.</a:t>
            </a:r>
          </a:p>
          <a:p>
            <a:pPr lvl="1"/>
            <a:r>
              <a:rPr lang="es-CL" sz="3200" dirty="0"/>
              <a:t>Perturbaciones.</a:t>
            </a:r>
          </a:p>
          <a:p>
            <a:pPr lvl="1"/>
            <a:r>
              <a:rPr lang="es-CL" sz="3200" dirty="0"/>
              <a:t>Sistemas no-idénticos.</a:t>
            </a:r>
          </a:p>
          <a:p>
            <a:endParaRPr lang="es-CL" sz="17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A2FC80-1DDD-4767-5D9F-602CF82F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0383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B5C86-CE6A-3FE2-6B58-F08D5185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8A4C08-E123-2148-440C-502187E13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00C4A7-B634-2265-615C-368C9B91C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16673-172D-362F-3076-6EE046800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259526-2991-C130-6E7B-A0FE26532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F6494-0F85-11E0-6E9C-E2AC3BC54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DD6527-B266-2F76-6098-01DDC218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CL" sz="3500" dirty="0">
                <a:solidFill>
                  <a:srgbClr val="FFFFFF"/>
                </a:solidFill>
              </a:rPr>
              <a:t>Objetivo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D53896-3C96-0235-4F08-1FD848758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132856"/>
            <a:ext cx="8771216" cy="28083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dirty="0"/>
              <a:t>Implementar un control robusto para motores </a:t>
            </a:r>
            <a:r>
              <a:rPr lang="es-CL" dirty="0" err="1"/>
              <a:t>stepper</a:t>
            </a:r>
            <a:r>
              <a:rPr lang="es-CL" dirty="0"/>
              <a:t> de un Clinostato 2D.</a:t>
            </a:r>
          </a:p>
          <a:p>
            <a:pPr marL="0" indent="0">
              <a:buNone/>
            </a:pPr>
            <a:endParaRPr lang="es-CL" dirty="0"/>
          </a:p>
          <a:p>
            <a:endParaRPr lang="es-CL" sz="3200" dirty="0"/>
          </a:p>
          <a:p>
            <a:endParaRPr lang="es-CL" sz="17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E1DF50-3C9C-264C-6642-C94A3352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4729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B73D5-9040-F901-011F-7738060C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028CFE-2D6B-0CA3-3DCA-41A045FFA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A7EACF-F34E-3B6D-F7AC-5AA6B0A82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B8B95D-35DB-9A13-43BF-8932D0252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C39D29-2E4A-9B9F-BACB-EF7FA7C1A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C4CC3B-3B89-E8E7-C7B0-90ACA033C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0BFFAB-51AF-833D-0CE2-75C28744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CL" sz="3500" dirty="0">
                <a:solidFill>
                  <a:srgbClr val="FFFFFF"/>
                </a:solidFill>
              </a:rPr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178A34-9E32-CB31-510B-1844D49EB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390" y="2338459"/>
            <a:ext cx="8771216" cy="4032448"/>
          </a:xfrm>
        </p:spPr>
        <p:txBody>
          <a:bodyPr anchor="ctr">
            <a:normAutofit fontScale="77500" lnSpcReduction="20000"/>
          </a:bodyPr>
          <a:lstStyle/>
          <a:p>
            <a:pPr lvl="0"/>
            <a:r>
              <a:rPr lang="es-CL" dirty="0"/>
              <a:t>Realizar la puesta en marcha de un </a:t>
            </a:r>
            <a:r>
              <a:rPr lang="es-CL" dirty="0" err="1"/>
              <a:t>Random</a:t>
            </a:r>
            <a:r>
              <a:rPr lang="es-CL" dirty="0"/>
              <a:t> Position Machine </a:t>
            </a:r>
            <a:r>
              <a:rPr lang="es-CL" dirty="0" err="1"/>
              <a:t>ó</a:t>
            </a:r>
            <a:r>
              <a:rPr lang="es-CL" dirty="0"/>
              <a:t> Clinostato 2D.</a:t>
            </a:r>
          </a:p>
          <a:p>
            <a:pPr lvl="0"/>
            <a:r>
              <a:rPr lang="es-CL" dirty="0"/>
              <a:t>Analizar el comportamiento en Lazo Abierto.</a:t>
            </a:r>
          </a:p>
          <a:p>
            <a:pPr lvl="0"/>
            <a:r>
              <a:rPr lang="es-CL" dirty="0"/>
              <a:t>Identificar las ecuaciones dinámicas para realizar un control.</a:t>
            </a:r>
          </a:p>
          <a:p>
            <a:pPr lvl="0"/>
            <a:r>
              <a:rPr lang="es-CL" dirty="0"/>
              <a:t>Simular el sistema con un control Robusto.</a:t>
            </a:r>
          </a:p>
          <a:p>
            <a:pPr lvl="0"/>
            <a:r>
              <a:rPr lang="es-CL" dirty="0"/>
              <a:t>Implementar el sistema de control Robusto.</a:t>
            </a:r>
          </a:p>
          <a:p>
            <a:pPr lvl="0"/>
            <a:r>
              <a:rPr lang="es-CL" dirty="0"/>
              <a:t>Analizar las diferencias entre el sistema de lazo abierto y de Control Robusto.</a:t>
            </a:r>
          </a:p>
          <a:p>
            <a:pPr lvl="0"/>
            <a:r>
              <a:rPr lang="es-CL" dirty="0"/>
              <a:t>Realizar mediciones de variables ambientales, tales cómo C02, Humedad, Temperatura, Presión.</a:t>
            </a:r>
          </a:p>
          <a:p>
            <a:pPr marL="0" indent="0">
              <a:buNone/>
            </a:pPr>
            <a:endParaRPr lang="es-CL" dirty="0"/>
          </a:p>
          <a:p>
            <a:endParaRPr lang="es-CL" sz="3200" dirty="0"/>
          </a:p>
          <a:p>
            <a:endParaRPr lang="es-CL" sz="17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917FC6-4D50-A65C-4EC4-BEA5F198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3801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C5000-1874-E1BF-CA47-6CD889E3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DC24B1-494E-458B-CBB3-CDF8E1CF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56486C-4FB9-6B9C-BFC7-2A6DA4D11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CA904-4E66-A9EE-50ED-C57F96B9E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5D6DBB-B67F-E840-4310-7243E9C44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609918-6051-2BE4-F86A-DC5A66DDB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E3591F-148D-85B0-AB74-80637D6E6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CL" sz="3500" dirty="0">
                <a:solidFill>
                  <a:srgbClr val="FFFFFF"/>
                </a:solidFill>
              </a:rPr>
              <a:t>Alcances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36477C-1AA3-1B70-AC42-DAF2884D5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72" y="2204864"/>
            <a:ext cx="8771216" cy="4032448"/>
          </a:xfrm>
        </p:spPr>
        <p:txBody>
          <a:bodyPr anchor="ctr">
            <a:normAutofit/>
          </a:bodyPr>
          <a:lstStyle/>
          <a:p>
            <a:r>
              <a:rPr lang="es-CL" dirty="0"/>
              <a:t>No se realizará un control cerrado para el giroscopio.</a:t>
            </a:r>
          </a:p>
          <a:p>
            <a:endParaRPr lang="es-CL" dirty="0"/>
          </a:p>
          <a:p>
            <a:endParaRPr lang="es-CL" sz="3200" dirty="0"/>
          </a:p>
          <a:p>
            <a:endParaRPr lang="es-CL" sz="17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9320FC-714C-74F6-210C-8A89A0AE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052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16202-E28F-BF0D-978A-5C15AACD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C50A8D-51B4-4D7E-7560-CC0559E8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442DF7-7684-55D4-99DC-56CA6524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154D1-2E66-2EA1-2675-B1F2209FD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2D4B0A-F45A-E723-F0AF-CF0E9B78D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D39637-A7F8-BCAD-8FE5-6CC49E22E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056AF6-98C9-4249-4496-4489E582A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CL" sz="3500" dirty="0">
                <a:solidFill>
                  <a:srgbClr val="FFFFFF"/>
                </a:solidFill>
              </a:rPr>
              <a:t>Limitaciones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ADD61B-016E-08EE-CF54-191D84215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506464"/>
            <a:ext cx="8771216" cy="4032448"/>
          </a:xfrm>
        </p:spPr>
        <p:txBody>
          <a:bodyPr anchor="ctr">
            <a:normAutofit/>
          </a:bodyPr>
          <a:lstStyle/>
          <a:p>
            <a:r>
              <a:rPr lang="es-CL" dirty="0"/>
              <a:t>Se pretende utilizar sólo un esp32 para este proyecto.</a:t>
            </a:r>
          </a:p>
          <a:p>
            <a:r>
              <a:rPr lang="es-CL" dirty="0"/>
              <a:t>Limitaciones en sensores y electrónica a utilizar.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sz="3200" dirty="0"/>
          </a:p>
          <a:p>
            <a:endParaRPr lang="es-CL" sz="17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4376E2-0BA9-8266-A5E5-AE2F2921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1415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D71E9-9EAE-08A2-819D-785E577B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4" name="Rectangle 2056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5" name="Group 2058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6" name="Rectangle 2060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20080F-C767-8BCB-D924-CCB8CEEF4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68" y="922644"/>
            <a:ext cx="3780214" cy="1169585"/>
          </a:xfrm>
        </p:spPr>
        <p:txBody>
          <a:bodyPr anchor="b">
            <a:normAutofit/>
          </a:bodyPr>
          <a:lstStyle/>
          <a:p>
            <a:br>
              <a:rPr lang="es-CL" sz="3500" dirty="0"/>
            </a:br>
            <a:r>
              <a:rPr lang="es-CL" sz="3500" dirty="0"/>
              <a:t>Marco Teórico</a:t>
            </a: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13244E-FE14-0FAC-0A03-66A5D19AF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2079448"/>
            <a:ext cx="4042657" cy="3632493"/>
          </a:xfrm>
        </p:spPr>
        <p:txBody>
          <a:bodyPr anchor="ctr">
            <a:normAutofit/>
          </a:bodyPr>
          <a:lstStyle/>
          <a:p>
            <a:r>
              <a:rPr lang="es-CL" dirty="0"/>
              <a:t>Motor </a:t>
            </a:r>
            <a:r>
              <a:rPr lang="es-CL" dirty="0" err="1"/>
              <a:t>Stepper</a:t>
            </a:r>
            <a:r>
              <a:rPr lang="es-CL" dirty="0"/>
              <a:t>:</a:t>
            </a:r>
          </a:p>
          <a:p>
            <a:pPr lvl="1"/>
            <a:r>
              <a:rPr lang="es-CL" dirty="0"/>
              <a:t>Paso: 1.8°m &lt;-&gt; 90°e</a:t>
            </a:r>
          </a:p>
          <a:p>
            <a:pPr marL="0" indent="0">
              <a:buNone/>
            </a:pPr>
            <a:r>
              <a:rPr lang="es-CL" sz="1700" dirty="0"/>
              <a:t> </a:t>
            </a:r>
          </a:p>
          <a:p>
            <a:pPr lvl="1"/>
            <a:endParaRPr lang="es-CL" sz="1700" dirty="0"/>
          </a:p>
          <a:p>
            <a:endParaRPr lang="es-CL" sz="1700" dirty="0"/>
          </a:p>
          <a:p>
            <a:endParaRPr lang="es-CL" sz="1700" dirty="0"/>
          </a:p>
          <a:p>
            <a:endParaRPr lang="es-CL" sz="1700" dirty="0"/>
          </a:p>
        </p:txBody>
      </p:sp>
      <p:pic>
        <p:nvPicPr>
          <p:cNvPr id="2050" name="Picture 2" descr="How to Wire Stepper Motors">
            <a:extLst>
              <a:ext uri="{FF2B5EF4-FFF2-40B4-BE49-F238E27FC236}">
                <a16:creationId xmlns:a16="http://schemas.microsoft.com/office/drawing/2014/main" id="{D8E26C4B-54AE-2E78-7CF4-CDF5EA3FA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0000" y="1032057"/>
            <a:ext cx="3291840" cy="206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polar Stepper Motors (Part I): Control Modes | Article | MPS">
            <a:extLst>
              <a:ext uri="{FF2B5EF4-FFF2-40B4-BE49-F238E27FC236}">
                <a16:creationId xmlns:a16="http://schemas.microsoft.com/office/drawing/2014/main" id="{BFE2063B-1C27-E458-7A5D-1478E909C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0000" y="4067390"/>
            <a:ext cx="3291840" cy="159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BA932F-B69F-FD01-5172-2A814F41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8936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0932D-95F3-3FA2-D532-6B6053F8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4" name="Rectangle 2056">
            <a:extLst>
              <a:ext uri="{FF2B5EF4-FFF2-40B4-BE49-F238E27FC236}">
                <a16:creationId xmlns:a16="http://schemas.microsoft.com/office/drawing/2014/main" id="{756DFB0A-AE93-241A-02EA-DE62C1E0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5" name="Group 2058">
            <a:extLst>
              <a:ext uri="{FF2B5EF4-FFF2-40B4-BE49-F238E27FC236}">
                <a16:creationId xmlns:a16="http://schemas.microsoft.com/office/drawing/2014/main" id="{44DBC509-FBD9-9494-549F-1ABA11B84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81D64889-D2F5-0289-845D-8201F9FC7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6" name="Rectangle 2060">
              <a:extLst>
                <a:ext uri="{FF2B5EF4-FFF2-40B4-BE49-F238E27FC236}">
                  <a16:creationId xmlns:a16="http://schemas.microsoft.com/office/drawing/2014/main" id="{D05AB365-F7FD-5843-1FD1-6CC762C65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F6177DE3-B7A0-657A-CAA5-435AA6BB9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F04BB3-8A5F-1AB8-5353-F8E62A3C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2272840"/>
            <a:ext cx="3780214" cy="1169585"/>
          </a:xfrm>
        </p:spPr>
        <p:txBody>
          <a:bodyPr anchor="b">
            <a:normAutofit/>
          </a:bodyPr>
          <a:lstStyle/>
          <a:p>
            <a:br>
              <a:rPr lang="es-CL" sz="3500" dirty="0"/>
            </a:br>
            <a:endParaRPr lang="es-CL" sz="3500" dirty="0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0DA08C0F-52A0-D2DA-1D61-C500A6B8D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F88E12-A8F8-F948-F1B9-172D4BC7E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400" y="216925"/>
            <a:ext cx="3780214" cy="3632493"/>
          </a:xfrm>
        </p:spPr>
        <p:txBody>
          <a:bodyPr anchor="ctr">
            <a:normAutofit/>
          </a:bodyPr>
          <a:lstStyle/>
          <a:p>
            <a:r>
              <a:rPr lang="es-CL" dirty="0"/>
              <a:t>Ecuaciones Dinámicas:</a:t>
            </a:r>
          </a:p>
          <a:p>
            <a:pPr lvl="1"/>
            <a:endParaRPr lang="es-CL" sz="1700" dirty="0"/>
          </a:p>
          <a:p>
            <a:endParaRPr lang="es-CL" sz="1700" dirty="0"/>
          </a:p>
          <a:p>
            <a:endParaRPr lang="es-CL" sz="1700" dirty="0"/>
          </a:p>
          <a:p>
            <a:endParaRPr lang="es-CL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8AABD5C-54B2-7BF3-3EB3-C16EF5486DF6}"/>
                  </a:ext>
                </a:extLst>
              </p:cNvPr>
              <p:cNvSpPr txBox="1"/>
              <p:nvPr/>
            </p:nvSpPr>
            <p:spPr>
              <a:xfrm>
                <a:off x="-10100" y="2509325"/>
                <a:ext cx="4231489" cy="8029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s-CL" b="0" dirty="0"/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8AABD5C-54B2-7BF3-3EB3-C16EF5486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00" y="2509325"/>
                <a:ext cx="4231489" cy="802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72A2660-F982-DAEB-DD6B-C044322FF07E}"/>
                  </a:ext>
                </a:extLst>
              </p:cNvPr>
              <p:cNvSpPr txBox="1"/>
              <p:nvPr/>
            </p:nvSpPr>
            <p:spPr>
              <a:xfrm>
                <a:off x="-59324" y="3283193"/>
                <a:ext cx="4231489" cy="8150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s-CL" b="0" dirty="0"/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72A2660-F982-DAEB-DD6B-C044322FF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324" y="3283193"/>
                <a:ext cx="4231489" cy="8150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5E6AA89-3E30-A036-0C9B-1BFB44FC19DB}"/>
                  </a:ext>
                </a:extLst>
              </p:cNvPr>
              <p:cNvSpPr txBox="1"/>
              <p:nvPr/>
            </p:nvSpPr>
            <p:spPr>
              <a:xfrm>
                <a:off x="626971" y="4021510"/>
                <a:ext cx="5616469" cy="8574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CL" i="1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endChr m:val="}"/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CL" i="1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e>
                          </m:d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i="1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CL" b="0" i="1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endChr m:val="}"/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CL" i="1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e>
                          </m:d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CL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s-CL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den>
                      </m:f>
                    </m:oMath>
                  </m:oMathPara>
                </a14:m>
                <a:endParaRPr lang="es-CL" b="0" dirty="0"/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5E6AA89-3E30-A036-0C9B-1BFB44FC1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71" y="4021510"/>
                <a:ext cx="5616469" cy="8574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CF5B0DC-D45E-576F-1F63-A5BFA3CB3405}"/>
                  </a:ext>
                </a:extLst>
              </p:cNvPr>
              <p:cNvSpPr txBox="1"/>
              <p:nvPr/>
            </p:nvSpPr>
            <p:spPr>
              <a:xfrm>
                <a:off x="-540568" y="4873768"/>
                <a:ext cx="4231489" cy="8150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 =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L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</m:oMath>
                  </m:oMathPara>
                </a14:m>
                <a:endParaRPr lang="es-CL" b="0" dirty="0"/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CF5B0DC-D45E-576F-1F63-A5BFA3CB3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0568" y="4873768"/>
                <a:ext cx="4231489" cy="8150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AE13689-601A-34EF-75A4-EA9280AF5F7E}"/>
                  </a:ext>
                </a:extLst>
              </p:cNvPr>
              <p:cNvSpPr txBox="1"/>
              <p:nvPr/>
            </p:nvSpPr>
            <p:spPr>
              <a:xfrm>
                <a:off x="5508104" y="5716958"/>
                <a:ext cx="4231489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L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endChr m:val="}"/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L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CL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CL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endChr m:val="}"/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CL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b="0" dirty="0"/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AE13689-601A-34EF-75A4-EA9280AF5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5716958"/>
                <a:ext cx="4231489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7851B0-40E3-2C6E-2E0C-044084BB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7231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2F118-E074-A852-71AD-1C72A874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4" name="Rectangle 2056">
            <a:extLst>
              <a:ext uri="{FF2B5EF4-FFF2-40B4-BE49-F238E27FC236}">
                <a16:creationId xmlns:a16="http://schemas.microsoft.com/office/drawing/2014/main" id="{7B0B84AE-BE30-91F2-6AF7-4BBCC0CD7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5" name="Group 2058">
            <a:extLst>
              <a:ext uri="{FF2B5EF4-FFF2-40B4-BE49-F238E27FC236}">
                <a16:creationId xmlns:a16="http://schemas.microsoft.com/office/drawing/2014/main" id="{35DD0498-D230-1A92-DF58-81580F26F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457ADE30-D6E5-29E7-7362-B7B9B7D9E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6" name="Rectangle 2060">
              <a:extLst>
                <a:ext uri="{FF2B5EF4-FFF2-40B4-BE49-F238E27FC236}">
                  <a16:creationId xmlns:a16="http://schemas.microsoft.com/office/drawing/2014/main" id="{A50EC1CA-1953-450B-C1E5-1AACFD07A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297E71B2-2253-2E6A-A53D-F220F8282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F5665E-CAEE-A3EA-E9CF-80C3C5E9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2272840"/>
            <a:ext cx="3780214" cy="1169585"/>
          </a:xfrm>
        </p:spPr>
        <p:txBody>
          <a:bodyPr anchor="b">
            <a:normAutofit/>
          </a:bodyPr>
          <a:lstStyle/>
          <a:p>
            <a:br>
              <a:rPr lang="es-CL" sz="3500" dirty="0"/>
            </a:br>
            <a:endParaRPr lang="es-CL" sz="3500" dirty="0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88FE0AE2-7EC5-C2EF-7AA4-3D41C0EA5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CA680-FF65-9031-2EB0-173608241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400" y="216925"/>
            <a:ext cx="4076038" cy="3632493"/>
          </a:xfrm>
        </p:spPr>
        <p:txBody>
          <a:bodyPr anchor="ctr">
            <a:normAutofit/>
          </a:bodyPr>
          <a:lstStyle/>
          <a:p>
            <a:r>
              <a:rPr lang="es-CL" dirty="0"/>
              <a:t>Observar el ángulo eléctrico (Back-</a:t>
            </a:r>
            <a:r>
              <a:rPr lang="es-CL" dirty="0" err="1"/>
              <a:t>emf</a:t>
            </a:r>
            <a:r>
              <a:rPr lang="es-CL" dirty="0"/>
              <a:t>)</a:t>
            </a:r>
          </a:p>
          <a:p>
            <a:pPr lvl="1"/>
            <a:endParaRPr lang="es-CL" sz="1700" dirty="0"/>
          </a:p>
          <a:p>
            <a:endParaRPr lang="es-CL" sz="1700" dirty="0"/>
          </a:p>
          <a:p>
            <a:endParaRPr lang="es-CL" sz="1700" dirty="0"/>
          </a:p>
          <a:p>
            <a:endParaRPr lang="es-CL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4288711-643A-7F6F-54E6-FCAED0538D78}"/>
                  </a:ext>
                </a:extLst>
              </p:cNvPr>
              <p:cNvSpPr txBox="1"/>
              <p:nvPr/>
            </p:nvSpPr>
            <p:spPr>
              <a:xfrm>
                <a:off x="829949" y="2470900"/>
                <a:ext cx="4231489" cy="760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CL" sz="2000" i="1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s-CL" sz="2000" b="0" dirty="0"/>
                  <a:t> = </a:t>
                </a:r>
                <a:r>
                  <a:rPr lang="es-CL" sz="2000" b="0" dirty="0" err="1"/>
                  <a:t>arctan</a:t>
                </a:r>
                <a:r>
                  <a:rPr lang="es-CL" sz="2000" b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L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s-CL" sz="20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CL" sz="2000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L" sz="20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CL" sz="20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den>
                    </m:f>
                  </m:oMath>
                </a14:m>
                <a:r>
                  <a:rPr lang="es-CL" sz="2000" b="0" dirty="0"/>
                  <a:t>)</a:t>
                </a:r>
              </a:p>
              <a:p>
                <a:endParaRPr lang="es-CL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4288711-643A-7F6F-54E6-FCAED0538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9" y="2470900"/>
                <a:ext cx="4231489" cy="760978"/>
              </a:xfrm>
              <a:prstGeom prst="rect">
                <a:avLst/>
              </a:prstGeom>
              <a:blipFill>
                <a:blip r:embed="rId3"/>
                <a:stretch>
                  <a:fillRect t="-8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145699E-BC74-9424-C521-344423232EBF}"/>
                  </a:ext>
                </a:extLst>
              </p:cNvPr>
              <p:cNvSpPr txBox="1"/>
              <p:nvPr/>
            </p:nvSpPr>
            <p:spPr>
              <a:xfrm>
                <a:off x="755576" y="3231878"/>
                <a:ext cx="6552728" cy="1502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¿Qué se puede lograr con esto?</a:t>
                </a:r>
              </a:p>
              <a:p>
                <a:r>
                  <a:rPr lang="es-CL" dirty="0"/>
                  <a:t>Aplicar una transformada de </a:t>
                </a:r>
                <a:r>
                  <a:rPr lang="es-CL" dirty="0" err="1"/>
                  <a:t>park</a:t>
                </a:r>
                <a:r>
                  <a:rPr lang="es-CL" dirty="0"/>
                  <a:t> -&gt; realizar un control FOC.</a:t>
                </a:r>
              </a:p>
              <a:p>
                <a:r>
                  <a:rPr lang="es-CL" dirty="0"/>
                  <a:t>Torque depende de la Corriente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L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CL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es-CL" dirty="0"/>
                  <a:t>.</a:t>
                </a:r>
              </a:p>
              <a:p>
                <a:r>
                  <a:rPr lang="es-CL" dirty="0"/>
                  <a:t>Estimar posición, velocidad y aceleración del motor, además de poder corregirla utilizando un observador de </a:t>
                </a:r>
                <a:r>
                  <a:rPr lang="es-CL" dirty="0" err="1"/>
                  <a:t>Luenberger</a:t>
                </a:r>
                <a:r>
                  <a:rPr lang="es-CL" dirty="0"/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145699E-BC74-9424-C521-344423232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231878"/>
                <a:ext cx="6552728" cy="1502014"/>
              </a:xfrm>
              <a:prstGeom prst="rect">
                <a:avLst/>
              </a:prstGeom>
              <a:blipFill>
                <a:blip r:embed="rId4"/>
                <a:stretch>
                  <a:fillRect l="-837" t="-2024" b="-526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5A37C9-78E7-B3FF-F128-2E49ADAA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118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6EB6F-7776-9BEA-49E4-FB1DC7BC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Pasos a continuar…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FF40D6-B5F9-BF3E-3985-383445574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¿Sistema Lineal o no-lineal?</a:t>
            </a:r>
          </a:p>
          <a:p>
            <a:r>
              <a:rPr lang="es-CL" dirty="0"/>
              <a:t>¿Observable y controlable?</a:t>
            </a:r>
          </a:p>
          <a:p>
            <a:r>
              <a:rPr lang="es-CL" dirty="0"/>
              <a:t>Aplicación de un Observador back-</a:t>
            </a:r>
            <a:r>
              <a:rPr lang="es-CL" dirty="0" err="1"/>
              <a:t>emf</a:t>
            </a:r>
            <a:r>
              <a:rPr lang="es-CL" dirty="0"/>
              <a:t> y FOC.</a:t>
            </a:r>
          </a:p>
          <a:p>
            <a:r>
              <a:rPr lang="es-CL" dirty="0"/>
              <a:t>Controlar la posición, velocidad y Aceleración.</a:t>
            </a:r>
          </a:p>
          <a:p>
            <a:r>
              <a:rPr lang="es-CL" dirty="0"/>
              <a:t>Comparar y analizar.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C28A6B-D60B-C5E2-0D85-8F0754A3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1B3D-7149-4524-8E39-54EBB781E7E7}" type="slidenum">
              <a:rPr lang="es-CL" smtClean="0"/>
              <a:pPr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4320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081f9b2-6a89-4a8a-95d1-cfd5ecc5d87b}" enabled="0" method="" siteId="{2081f9b2-6a89-4a8a-95d1-cfd5ecc5d8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</Words>
  <Application>Microsoft Office PowerPoint</Application>
  <PresentationFormat>Presentación en pantalla (4:3)</PresentationFormat>
  <Paragraphs>110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Times New Roman</vt:lpstr>
      <vt:lpstr>Tema de Office</vt:lpstr>
      <vt:lpstr>Damián Andrés Bravo Campusano  Profesor guía : Fernando Fuentes Profesor co-guía: Ignacio Torres  Universidad de Talca</vt:lpstr>
      <vt:lpstr>Contenido</vt:lpstr>
      <vt:lpstr>Introducción General</vt:lpstr>
      <vt:lpstr>Estado del arte</vt:lpstr>
      <vt:lpstr>Estado del arte</vt:lpstr>
      <vt:lpstr>Objetivo general</vt:lpstr>
      <vt:lpstr>Objetivos específicos</vt:lpstr>
      <vt:lpstr>Alcances</vt:lpstr>
      <vt:lpstr>Limitaciones</vt:lpstr>
      <vt:lpstr> Marco Teórico</vt:lpstr>
      <vt:lpstr> </vt:lpstr>
      <vt:lpstr> </vt:lpstr>
      <vt:lpstr>Pasos a continuar…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/>
  <cp:lastModifiedBy/>
  <cp:revision>53</cp:revision>
  <dcterms:created xsi:type="dcterms:W3CDTF">2017-05-15T11:49:29Z</dcterms:created>
  <dcterms:modified xsi:type="dcterms:W3CDTF">2025-09-23T04:20:55Z</dcterms:modified>
</cp:coreProperties>
</file>